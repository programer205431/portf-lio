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59" r:id="rId6"/>
    <p:sldId id="262" r:id="rId7"/>
    <p:sldId id="263" r:id="rId8"/>
    <p:sldId id="268" r:id="rId9"/>
    <p:sldId id="264" r:id="rId10"/>
    <p:sldId id="265" r:id="rId11"/>
    <p:sldId id="266" r:id="rId12"/>
    <p:sldId id="267" r:id="rId13"/>
    <p:sldId id="269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71" r:id="rId26"/>
    <p:sldId id="275" r:id="rId27"/>
    <p:sldId id="287" r:id="rId28"/>
    <p:sldId id="273" r:id="rId29"/>
    <p:sldId id="272" r:id="rId30"/>
    <p:sldId id="274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2D7D6-4649-7C56-D30D-B39F14570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CB94AB-51A8-6776-8FEF-44F3FCA46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73E6A0-5D98-23D4-EC62-87B525A8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7F53F6-3117-17FC-FE80-55916D387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048CAA-34DD-9791-1760-7C023226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77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F48EF-0295-C69E-FDE9-7F0C2BC0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F23FF0-8255-817F-D116-392CE631C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4A46E4-2137-5DED-8083-DF0AE906F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E41756-3CA1-23E6-0F0E-18D0A656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F03B44-DD6A-3903-22BC-A91CDB72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99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CADDB-9D17-BD7D-40C0-995E4BB3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42B116-6C93-D976-1C19-6B8126501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77865A-7F8C-19D0-0355-F5597B61A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6CF880-ECCF-20E0-9175-FAAE5CF3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74F8DD-D376-89A7-3663-ECA3B067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58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5BCF2-F7B5-2E71-CEF3-9FF80A2C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7279DE-272E-FA1B-6551-9D2C05C07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7E21D4-445C-C2B0-D3BE-5502E973D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44E14E-89FA-D13F-A6BA-07D7F3C0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68DF2F-F18B-C9A9-968B-C0B3CA9B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6400E2-ECCA-7B68-60C3-EAC75F8CC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942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12D56-0EAE-4A85-97F9-FF1323A70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CE7316-A8A5-9706-956D-FBA836BE1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21C144-AD94-FAF3-46D5-818548809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4AB48C0-9CE1-D1AE-D6ED-D4CA0F895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295E193-189C-DA4F-6196-BAF930131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CF7EF8-8982-1169-2C81-F0A591EA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58A5D2-1EF2-13CE-9F4B-4D4B7F8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C6EB268-F7BB-B8D7-7B4D-A7BBF208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8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BFE85-0D3E-E03D-E959-F637302B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C56DE5B-1904-2F96-5A44-759C1F46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E1A31A-F0AC-6607-DB0A-E48FFC68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AE611BB-1851-5570-7C35-163D96E1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049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D07B13A-F02D-B7BE-320F-12D0DFA7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D54497-BBD3-7699-287B-E0952CA2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5529B4-187A-CB0C-506E-BBB4F425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135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1AF04-3C80-64F4-A795-5F2A3B7B6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FFE072-01F7-AFF5-E692-3F2238C40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0BB577-01BF-D28B-D120-43B31C14D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71B971-D641-B34E-F904-3DB330B3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0E5D17-91A9-3686-A8A6-7ECE55B67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0F34B0-CF22-AED1-CDF0-CDACF076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83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5B495-5D15-8C5D-09CB-FD619805D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5B9207D-EEAE-851E-F94F-5E00C5323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7ACB6A-80D7-57BE-4858-72E433784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9B5AAF-03C4-CFE7-863C-1E764CA3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2B38D5-DB66-2271-54B8-DEBBC013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0B9D0B-11C4-86AC-B1D6-438C1A90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13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B8A61-DCD7-B014-BBBA-72053884F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B3E2C7-F572-94F5-9C3C-528058941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10DBF4-2785-48CE-6053-8C6CF828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B08850-7F4F-CCC2-D867-7FF87C08E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0BE06F-7E92-871F-81C6-6EC60512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92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240BA5-D23B-AF60-140D-06D570021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D38E97-12CD-E760-89F2-337BE3290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90A631-8AFB-7A03-D74B-C92B57B53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0F5466-501A-C2DF-0261-0C022AF2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9D0B2E-57EC-64FB-B76B-5C8E15C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1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8285E3E-A088-14DB-A66A-EF1CAF8D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3CE1D8-0184-20AD-B139-195FAE6BD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E456AC-494C-A904-4CF6-20F07CBED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950C4-4CFB-4C0E-AD47-D40230335A17}" type="datetimeFigureOut">
              <a:rPr lang="pt-BR" smtClean="0"/>
              <a:t>09/04/2023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BD5ABD-7E73-1FD8-8665-5767DEAEC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A0D4C2-19D4-F7D6-8DBF-90EFB195E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68670-3663-46E2-8065-9A5D3D9E8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90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70263"/>
          </a:xfrm>
        </p:spPr>
        <p:txBody>
          <a:bodyPr>
            <a:normAutofit/>
          </a:bodyPr>
          <a:lstStyle/>
          <a:p>
            <a:r>
              <a:rPr lang="pt-BR" sz="4800" b="1" dirty="0">
                <a:latin typeface="+mn-lt"/>
              </a:rPr>
              <a:t>Temporizadores de CLP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144000" cy="1295400"/>
          </a:xfrm>
        </p:spPr>
        <p:txBody>
          <a:bodyPr>
            <a:normAutofit/>
          </a:bodyPr>
          <a:lstStyle/>
          <a:p>
            <a:r>
              <a:rPr lang="pt-BR" sz="3200" dirty="0"/>
              <a:t>Temporizadores: modos de operação e respectiva parametrização</a:t>
            </a:r>
          </a:p>
        </p:txBody>
      </p:sp>
    </p:spTree>
    <p:extLst>
      <p:ext uri="{BB962C8B-B14F-4D97-AF65-F5344CB8AC3E}">
        <p14:creationId xmlns:p14="http://schemas.microsoft.com/office/powerpoint/2010/main" val="205702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7"/>
            <a:ext cx="9144000" cy="1170263"/>
          </a:xfrm>
        </p:spPr>
        <p:txBody>
          <a:bodyPr>
            <a:normAutofit/>
          </a:bodyPr>
          <a:lstStyle/>
          <a:p>
            <a:r>
              <a:rPr lang="pt-BR" sz="4800" b="1" dirty="0">
                <a:latin typeface="+mn-lt"/>
              </a:rPr>
              <a:t>Objetivo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417" y="1974575"/>
            <a:ext cx="9647583" cy="3882886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Apresentar os modos de operação do temporizador e respectiva parametrização do CLP Clic 02.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6895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740228"/>
          </a:xfrm>
        </p:spPr>
        <p:txBody>
          <a:bodyPr>
            <a:normAutofit/>
          </a:bodyPr>
          <a:lstStyle/>
          <a:p>
            <a:r>
              <a:rPr lang="pt-BR" sz="3600" b="1" dirty="0">
                <a:latin typeface="+mn-lt"/>
              </a:rPr>
              <a:t>Temporizadores: comando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30505"/>
            <a:ext cx="2590800" cy="457390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dirty="0"/>
              <a:t>Janela de parametrização: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r>
              <a:rPr lang="pt-BR" dirty="0"/>
              <a:t>Temporizador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r>
              <a:rPr lang="pt-BR" dirty="0"/>
              <a:t>Modo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r>
              <a:rPr lang="pt-BR" dirty="0"/>
              <a:t>Base de tempo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r>
              <a:rPr lang="pt-BR" dirty="0"/>
              <a:t>Valor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r>
              <a:rPr lang="pt-BR" dirty="0"/>
              <a:t>Reset (quando necessário)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8132A33-517E-46EE-BA9F-876AF8F43D1C}"/>
              </a:ext>
            </a:extLst>
          </p:cNvPr>
          <p:cNvGrpSpPr/>
          <p:nvPr/>
        </p:nvGrpSpPr>
        <p:grpSpPr>
          <a:xfrm>
            <a:off x="2568590" y="507445"/>
            <a:ext cx="9571156" cy="6008678"/>
            <a:chOff x="2568590" y="507445"/>
            <a:chExt cx="9571156" cy="600867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57123530-D2B4-AA3F-9D35-936612686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68590" y="619430"/>
              <a:ext cx="9571156" cy="5775895"/>
            </a:xfrm>
            <a:prstGeom prst="rect">
              <a:avLst/>
            </a:prstGeom>
          </p:spPr>
        </p:pic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F1C91107-30C4-EBEC-D6C0-F85F4BE52D36}"/>
                </a:ext>
              </a:extLst>
            </p:cNvPr>
            <p:cNvSpPr/>
            <p:nvPr/>
          </p:nvSpPr>
          <p:spPr>
            <a:xfrm>
              <a:off x="3753394" y="5991494"/>
              <a:ext cx="478972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78361054-19F6-5B1C-BD28-380D9242B15F}"/>
                </a:ext>
              </a:extLst>
            </p:cNvPr>
            <p:cNvSpPr/>
            <p:nvPr/>
          </p:nvSpPr>
          <p:spPr>
            <a:xfrm rot="4389753">
              <a:off x="3326672" y="5344040"/>
              <a:ext cx="853440" cy="435428"/>
            </a:xfrm>
            <a:prstGeom prst="rightArrow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Seta: para a Direita 7">
              <a:extLst>
                <a:ext uri="{FF2B5EF4-FFF2-40B4-BE49-F238E27FC236}">
                  <a16:creationId xmlns:a16="http://schemas.microsoft.com/office/drawing/2014/main" id="{318BFFBF-CEE1-0A64-4B65-835FE4F03E9B}"/>
                </a:ext>
              </a:extLst>
            </p:cNvPr>
            <p:cNvSpPr/>
            <p:nvPr/>
          </p:nvSpPr>
          <p:spPr>
            <a:xfrm rot="2745689">
              <a:off x="7080908" y="716451"/>
              <a:ext cx="853440" cy="435428"/>
            </a:xfrm>
            <a:prstGeom prst="rightArrow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7AC07E0A-F34B-6003-C456-FF51C3887F0F}"/>
                </a:ext>
              </a:extLst>
            </p:cNvPr>
            <p:cNvSpPr/>
            <p:nvPr/>
          </p:nvSpPr>
          <p:spPr>
            <a:xfrm rot="1997351">
              <a:off x="5467780" y="2556681"/>
              <a:ext cx="665154" cy="334582"/>
            </a:xfrm>
            <a:prstGeom prst="rightArrow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A89F219C-F94E-E50F-4DB5-EA0E03AEABD1}"/>
                </a:ext>
              </a:extLst>
            </p:cNvPr>
            <p:cNvSpPr/>
            <p:nvPr/>
          </p:nvSpPr>
          <p:spPr>
            <a:xfrm rot="9848298">
              <a:off x="7039670" y="3806353"/>
              <a:ext cx="665154" cy="334582"/>
            </a:xfrm>
            <a:prstGeom prst="rightArrow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Seta: para a Direita 15">
              <a:extLst>
                <a:ext uri="{FF2B5EF4-FFF2-40B4-BE49-F238E27FC236}">
                  <a16:creationId xmlns:a16="http://schemas.microsoft.com/office/drawing/2014/main" id="{9292D0A7-84DC-FDC2-28C1-06BAEDC9E8DB}"/>
                </a:ext>
              </a:extLst>
            </p:cNvPr>
            <p:cNvSpPr/>
            <p:nvPr/>
          </p:nvSpPr>
          <p:spPr>
            <a:xfrm rot="20096001">
              <a:off x="5685487" y="4394181"/>
              <a:ext cx="665154" cy="334582"/>
            </a:xfrm>
            <a:prstGeom prst="rightArrow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Seta: para a Direita 16">
              <a:extLst>
                <a:ext uri="{FF2B5EF4-FFF2-40B4-BE49-F238E27FC236}">
                  <a16:creationId xmlns:a16="http://schemas.microsoft.com/office/drawing/2014/main" id="{1A7D397A-8C8B-DB6C-2F41-9A3DEB619B16}"/>
                </a:ext>
              </a:extLst>
            </p:cNvPr>
            <p:cNvSpPr/>
            <p:nvPr/>
          </p:nvSpPr>
          <p:spPr>
            <a:xfrm rot="9848298">
              <a:off x="7575256" y="4429022"/>
              <a:ext cx="665154" cy="334582"/>
            </a:xfrm>
            <a:prstGeom prst="rightArrow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1278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740228"/>
          </a:xfrm>
        </p:spPr>
        <p:txBody>
          <a:bodyPr>
            <a:normAutofit/>
          </a:bodyPr>
          <a:lstStyle/>
          <a:p>
            <a:r>
              <a:rPr lang="pt-BR" sz="3600" b="1" dirty="0">
                <a:latin typeface="+mn-lt"/>
              </a:rPr>
              <a:t>Temporizadores: Janela de parametrização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046" y="1351053"/>
            <a:ext cx="1994263" cy="457390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dirty="0"/>
              <a:t>Parâmetros de temporização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2CB22E-8ABA-B668-16FE-1AA516C45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309" y="740228"/>
            <a:ext cx="9939670" cy="569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208" y="165464"/>
            <a:ext cx="9144000" cy="583474"/>
          </a:xfrm>
        </p:spPr>
        <p:txBody>
          <a:bodyPr>
            <a:normAutofit fontScale="90000"/>
          </a:bodyPr>
          <a:lstStyle/>
          <a:p>
            <a:r>
              <a:rPr lang="pt-BR" sz="4000" b="1" dirty="0">
                <a:latin typeface="+mn-lt"/>
              </a:rPr>
              <a:t>Temporizadores: parametrização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109" y="894713"/>
            <a:ext cx="3002943" cy="388288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dirty="0"/>
              <a:t>Parâmetros de temporização no </a:t>
            </a:r>
            <a:r>
              <a:rPr lang="pt-BR" dirty="0" err="1"/>
              <a:t>ladder</a:t>
            </a:r>
            <a:r>
              <a:rPr lang="pt-BR" dirty="0"/>
              <a:t>.</a:t>
            </a:r>
          </a:p>
          <a:p>
            <a:pPr algn="just"/>
            <a:endParaRPr lang="pt-BR" sz="3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0AD36C-FF20-6158-D745-D560A02C6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84" y="2697177"/>
            <a:ext cx="3896133" cy="19915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E12D843-EA55-E458-E552-FEDE0E343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900" y="1185046"/>
            <a:ext cx="5393599" cy="501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4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614" y="214163"/>
            <a:ext cx="9144000" cy="583474"/>
          </a:xfrm>
        </p:spPr>
        <p:txBody>
          <a:bodyPr>
            <a:noAutofit/>
          </a:bodyPr>
          <a:lstStyle/>
          <a:p>
            <a:pPr algn="l"/>
            <a:r>
              <a:rPr lang="pt-BR" sz="2800" b="1" dirty="0">
                <a:latin typeface="+mn-lt"/>
              </a:rPr>
              <a:t>Modo 1: Retardo na energização – Modo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977" y="913183"/>
            <a:ext cx="6611751" cy="419598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/>
              <a:t>O </a:t>
            </a:r>
            <a:r>
              <a:rPr lang="pt-BR" sz="2000" dirty="0">
                <a:highlight>
                  <a:srgbClr val="00FFFF"/>
                </a:highlight>
              </a:rPr>
              <a:t>inicio da contagem do tempo da energização do temporizador acontece na borda de subida </a:t>
            </a:r>
            <a:r>
              <a:rPr lang="pt-BR" sz="2000" dirty="0"/>
              <a:t>do sinal de habilitação do mesmo. A </a:t>
            </a:r>
            <a:r>
              <a:rPr lang="pt-BR" sz="2000" dirty="0">
                <a:highlight>
                  <a:srgbClr val="008000"/>
                </a:highlight>
              </a:rPr>
              <a:t>mudança de estado da saída do temporizador ocorre ao final da contagem do tempo t</a:t>
            </a:r>
            <a:r>
              <a:rPr lang="pt-BR" sz="2000" dirty="0"/>
              <a:t>. Seu estado permanece alto enquanto estiver habilitado.</a:t>
            </a:r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335A28E3-E085-4F55-8D67-4A56E97130BC}"/>
              </a:ext>
            </a:extLst>
          </p:cNvPr>
          <p:cNvGrpSpPr/>
          <p:nvPr/>
        </p:nvGrpSpPr>
        <p:grpSpPr>
          <a:xfrm>
            <a:off x="7068547" y="969573"/>
            <a:ext cx="5040558" cy="5557706"/>
            <a:chOff x="6658608" y="979494"/>
            <a:chExt cx="5156289" cy="6060363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EFB29229-4B07-A2FD-96A6-6C693A745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58608" y="979494"/>
              <a:ext cx="5156289" cy="6060363"/>
            </a:xfrm>
            <a:prstGeom prst="rect">
              <a:avLst/>
            </a:prstGeom>
          </p:spPr>
        </p:pic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42C5DFB6-1678-B15D-CB96-CCA0F2111491}"/>
                </a:ext>
              </a:extLst>
            </p:cNvPr>
            <p:cNvSpPr/>
            <p:nvPr/>
          </p:nvSpPr>
          <p:spPr>
            <a:xfrm>
              <a:off x="7606630" y="3147714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1423AB72-71A1-4E6A-93A8-7C04532BFEF4}"/>
                </a:ext>
              </a:extLst>
            </p:cNvPr>
            <p:cNvSpPr/>
            <p:nvPr/>
          </p:nvSpPr>
          <p:spPr>
            <a:xfrm>
              <a:off x="10775477" y="1029827"/>
              <a:ext cx="414748" cy="26076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E0379D3F-E0EA-4139-A1BB-DDC1C39DA94B}"/>
              </a:ext>
            </a:extLst>
          </p:cNvPr>
          <p:cNvGrpSpPr/>
          <p:nvPr/>
        </p:nvGrpSpPr>
        <p:grpSpPr>
          <a:xfrm>
            <a:off x="227767" y="3657602"/>
            <a:ext cx="6691588" cy="2908601"/>
            <a:chOff x="493663" y="3966011"/>
            <a:chExt cx="6239630" cy="2829227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48E1786-7785-43E1-A270-9022D1F201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937" t="32348" r="6697"/>
            <a:stretch/>
          </p:blipFill>
          <p:spPr>
            <a:xfrm>
              <a:off x="493663" y="3966011"/>
              <a:ext cx="6239630" cy="2310922"/>
            </a:xfrm>
            <a:prstGeom prst="rect">
              <a:avLst/>
            </a:prstGeom>
          </p:spPr>
        </p:pic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72C82DDD-9951-4B60-BDA2-AEAF7EDC3A94}"/>
                </a:ext>
              </a:extLst>
            </p:cNvPr>
            <p:cNvSpPr/>
            <p:nvPr/>
          </p:nvSpPr>
          <p:spPr>
            <a:xfrm>
              <a:off x="3215960" y="3966011"/>
              <a:ext cx="2513787" cy="77613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3952CDB-BF21-4B35-B585-67D96F13ADFB}"/>
                </a:ext>
              </a:extLst>
            </p:cNvPr>
            <p:cNvSpPr/>
            <p:nvPr/>
          </p:nvSpPr>
          <p:spPr>
            <a:xfrm>
              <a:off x="3204113" y="5185602"/>
              <a:ext cx="1685423" cy="54493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57670D7E-70E0-4FB7-912D-2F9ECAB4A0C6}"/>
                </a:ext>
              </a:extLst>
            </p:cNvPr>
            <p:cNvSpPr/>
            <p:nvPr/>
          </p:nvSpPr>
          <p:spPr>
            <a:xfrm>
              <a:off x="4471968" y="5578998"/>
              <a:ext cx="1001053" cy="444140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Seta: para a Direita 12">
              <a:extLst>
                <a:ext uri="{FF2B5EF4-FFF2-40B4-BE49-F238E27FC236}">
                  <a16:creationId xmlns:a16="http://schemas.microsoft.com/office/drawing/2014/main" id="{78EE480F-61FF-4159-9D2C-3762AA381223}"/>
                </a:ext>
              </a:extLst>
            </p:cNvPr>
            <p:cNvSpPr/>
            <p:nvPr/>
          </p:nvSpPr>
          <p:spPr>
            <a:xfrm rot="16200000">
              <a:off x="4145321" y="6168920"/>
              <a:ext cx="838462" cy="414174"/>
            </a:xfrm>
            <a:prstGeom prst="rightArrow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Seta: para a Direita 14">
              <a:extLst>
                <a:ext uri="{FF2B5EF4-FFF2-40B4-BE49-F238E27FC236}">
                  <a16:creationId xmlns:a16="http://schemas.microsoft.com/office/drawing/2014/main" id="{EB93D3B2-18BB-4D21-A4EE-1F70BD276C1E}"/>
                </a:ext>
              </a:extLst>
            </p:cNvPr>
            <p:cNvSpPr/>
            <p:nvPr/>
          </p:nvSpPr>
          <p:spPr>
            <a:xfrm rot="3590043">
              <a:off x="2796729" y="4458026"/>
              <a:ext cx="838462" cy="414174"/>
            </a:xfrm>
            <a:prstGeom prst="rightArrow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highlight>
                  <a:srgbClr val="00FFFF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3052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208" y="123519"/>
            <a:ext cx="9144000" cy="583474"/>
          </a:xfrm>
        </p:spPr>
        <p:txBody>
          <a:bodyPr>
            <a:noAutofit/>
          </a:bodyPr>
          <a:lstStyle/>
          <a:p>
            <a:pPr algn="l"/>
            <a:r>
              <a:rPr lang="pt-BR" sz="2800" b="1" dirty="0">
                <a:latin typeface="+mn-lt"/>
              </a:rPr>
              <a:t>Modo 2: Retardo na energização Modo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378" y="1216756"/>
            <a:ext cx="5815811" cy="388288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2800" dirty="0"/>
              <a:t>Atraso no tempo de acionamento com tempo acumulativo e possibilidade de uso de Reset.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9873202-6D46-45FF-8089-07C725EDF531}"/>
              </a:ext>
            </a:extLst>
          </p:cNvPr>
          <p:cNvGrpSpPr/>
          <p:nvPr/>
        </p:nvGrpSpPr>
        <p:grpSpPr>
          <a:xfrm>
            <a:off x="344339" y="3816885"/>
            <a:ext cx="6326106" cy="1911227"/>
            <a:chOff x="471509" y="3853325"/>
            <a:chExt cx="6013182" cy="159856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15CE3F8-BBAA-4A98-80D5-6328A3F6A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22" r="6601" b="29030"/>
            <a:stretch/>
          </p:blipFill>
          <p:spPr>
            <a:xfrm>
              <a:off x="471509" y="3853325"/>
              <a:ext cx="6013182" cy="1598569"/>
            </a:xfrm>
            <a:prstGeom prst="rect">
              <a:avLst/>
            </a:prstGeom>
          </p:spPr>
        </p:pic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5BBF7AD-8F12-412E-BC76-2EDAE1AC4CDA}"/>
                </a:ext>
              </a:extLst>
            </p:cNvPr>
            <p:cNvSpPr/>
            <p:nvPr/>
          </p:nvSpPr>
          <p:spPr>
            <a:xfrm>
              <a:off x="2985269" y="4986068"/>
              <a:ext cx="1371070" cy="25633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96830844-A7E9-4FB8-880B-C39ADA9226EA}"/>
              </a:ext>
            </a:extLst>
          </p:cNvPr>
          <p:cNvGrpSpPr/>
          <p:nvPr/>
        </p:nvGrpSpPr>
        <p:grpSpPr>
          <a:xfrm>
            <a:off x="7011759" y="808782"/>
            <a:ext cx="4993215" cy="5857875"/>
            <a:chOff x="7004114" y="834661"/>
            <a:chExt cx="4993215" cy="5857875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F281A90C-BD24-82D7-B34A-633BD855F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4114" y="834661"/>
              <a:ext cx="4993215" cy="5857875"/>
            </a:xfrm>
            <a:prstGeom prst="rect">
              <a:avLst/>
            </a:prstGeom>
          </p:spPr>
        </p:pic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3F262777-F197-6A07-EF3C-DDBF4DC49462}"/>
                </a:ext>
              </a:extLst>
            </p:cNvPr>
            <p:cNvSpPr/>
            <p:nvPr/>
          </p:nvSpPr>
          <p:spPr>
            <a:xfrm>
              <a:off x="8660147" y="2921764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C1078B55-DD0A-F28E-40D3-E20C1C474144}"/>
                </a:ext>
              </a:extLst>
            </p:cNvPr>
            <p:cNvSpPr/>
            <p:nvPr/>
          </p:nvSpPr>
          <p:spPr>
            <a:xfrm>
              <a:off x="11102899" y="891812"/>
              <a:ext cx="319498" cy="28516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24787B5-DEF7-2777-7784-D4E1E901F357}"/>
                </a:ext>
              </a:extLst>
            </p:cNvPr>
            <p:cNvSpPr/>
            <p:nvPr/>
          </p:nvSpPr>
          <p:spPr>
            <a:xfrm>
              <a:off x="9787899" y="5390645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C175DBB-9B76-4040-AFE1-CA54ED07A09C}"/>
                </a:ext>
              </a:extLst>
            </p:cNvPr>
            <p:cNvSpPr/>
            <p:nvPr/>
          </p:nvSpPr>
          <p:spPr>
            <a:xfrm>
              <a:off x="8998451" y="5006639"/>
              <a:ext cx="1371070" cy="25633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77242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208" y="165464"/>
            <a:ext cx="9144000" cy="583474"/>
          </a:xfrm>
        </p:spPr>
        <p:txBody>
          <a:bodyPr>
            <a:noAutofit/>
          </a:bodyPr>
          <a:lstStyle/>
          <a:p>
            <a:pPr algn="l"/>
            <a:r>
              <a:rPr lang="pt-BR" sz="2800" b="1" dirty="0">
                <a:latin typeface="+mn-lt"/>
              </a:rPr>
              <a:t>Modo 2: Retardo na energização Modo 2 – com reset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199" y="1282964"/>
            <a:ext cx="5977998" cy="388288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2800" dirty="0"/>
              <a:t>Atraso no tempo de acionamento com tempo acumulativo com </a:t>
            </a:r>
            <a:r>
              <a:rPr lang="pt-BR" sz="2800" dirty="0">
                <a:solidFill>
                  <a:srgbClr val="FF0000"/>
                </a:solidFill>
              </a:rPr>
              <a:t>Reset</a:t>
            </a:r>
            <a:r>
              <a:rPr lang="pt-BR" sz="2800" dirty="0"/>
              <a:t>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22B26DB-8033-4542-B82A-A15E6687F858}"/>
              </a:ext>
            </a:extLst>
          </p:cNvPr>
          <p:cNvGrpSpPr/>
          <p:nvPr/>
        </p:nvGrpSpPr>
        <p:grpSpPr>
          <a:xfrm>
            <a:off x="7379937" y="810354"/>
            <a:ext cx="4602499" cy="5882182"/>
            <a:chOff x="7401988" y="810354"/>
            <a:chExt cx="4602499" cy="5882182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AAC8A500-E30C-FD3B-3848-CE045BA2C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01988" y="810354"/>
              <a:ext cx="4602499" cy="5882182"/>
            </a:xfrm>
            <a:prstGeom prst="rect">
              <a:avLst/>
            </a:prstGeom>
          </p:spPr>
        </p:pic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3F262777-F197-6A07-EF3C-DDBF4DC49462}"/>
                </a:ext>
              </a:extLst>
            </p:cNvPr>
            <p:cNvSpPr/>
            <p:nvPr/>
          </p:nvSpPr>
          <p:spPr>
            <a:xfrm>
              <a:off x="8804361" y="3052419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C1078B55-DD0A-F28E-40D3-E20C1C474144}"/>
                </a:ext>
              </a:extLst>
            </p:cNvPr>
            <p:cNvSpPr/>
            <p:nvPr/>
          </p:nvSpPr>
          <p:spPr>
            <a:xfrm>
              <a:off x="11151314" y="830874"/>
              <a:ext cx="319498" cy="28516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24787B5-DEF7-2777-7784-D4E1E901F357}"/>
                </a:ext>
              </a:extLst>
            </p:cNvPr>
            <p:cNvSpPr/>
            <p:nvPr/>
          </p:nvSpPr>
          <p:spPr>
            <a:xfrm>
              <a:off x="10114994" y="5469051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E15CCAF2-B3DB-2DB4-0A89-76CD72602029}"/>
                </a:ext>
              </a:extLst>
            </p:cNvPr>
            <p:cNvSpPr/>
            <p:nvPr/>
          </p:nvSpPr>
          <p:spPr>
            <a:xfrm>
              <a:off x="11007616" y="1157448"/>
              <a:ext cx="319498" cy="28516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17A0FA5C-BA3A-DDD7-0DC3-9566F3CCD4B2}"/>
                </a:ext>
              </a:extLst>
            </p:cNvPr>
            <p:cNvSpPr/>
            <p:nvPr/>
          </p:nvSpPr>
          <p:spPr>
            <a:xfrm>
              <a:off x="7737288" y="1767041"/>
              <a:ext cx="655038" cy="59297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E808E7C-B8CD-4622-86B2-7925F6D65648}"/>
                </a:ext>
              </a:extLst>
            </p:cNvPr>
            <p:cNvSpPr/>
            <p:nvPr/>
          </p:nvSpPr>
          <p:spPr>
            <a:xfrm>
              <a:off x="9238720" y="5011564"/>
              <a:ext cx="1372815" cy="31762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54A23631-EA4B-4937-90D4-2075E7EA0558}"/>
              </a:ext>
            </a:extLst>
          </p:cNvPr>
          <p:cNvGrpSpPr/>
          <p:nvPr/>
        </p:nvGrpSpPr>
        <p:grpSpPr>
          <a:xfrm>
            <a:off x="173952" y="3314733"/>
            <a:ext cx="6910250" cy="2588480"/>
            <a:chOff x="0" y="3649212"/>
            <a:chExt cx="6910250" cy="2588480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DBC3DEDA-6474-44FE-8740-4F04021E82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22" r="6601"/>
            <a:stretch/>
          </p:blipFill>
          <p:spPr>
            <a:xfrm>
              <a:off x="0" y="3649212"/>
              <a:ext cx="6910250" cy="2588480"/>
            </a:xfrm>
            <a:prstGeom prst="rect">
              <a:avLst/>
            </a:prstGeom>
          </p:spPr>
        </p:pic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690122D3-61D4-4E11-9368-BAAA7085DC34}"/>
                </a:ext>
              </a:extLst>
            </p:cNvPr>
            <p:cNvSpPr/>
            <p:nvPr/>
          </p:nvSpPr>
          <p:spPr>
            <a:xfrm>
              <a:off x="3014878" y="4943452"/>
              <a:ext cx="1034640" cy="38573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B8AD0ECF-5F2A-48AE-8528-66CA006DFF82}"/>
                </a:ext>
              </a:extLst>
            </p:cNvPr>
            <p:cNvSpPr/>
            <p:nvPr/>
          </p:nvSpPr>
          <p:spPr>
            <a:xfrm>
              <a:off x="5203112" y="5469051"/>
              <a:ext cx="1034640" cy="63845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537245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208" y="165464"/>
            <a:ext cx="9144000" cy="583474"/>
          </a:xfrm>
        </p:spPr>
        <p:txBody>
          <a:bodyPr>
            <a:noAutofit/>
          </a:bodyPr>
          <a:lstStyle/>
          <a:p>
            <a:pPr algn="l"/>
            <a:r>
              <a:rPr lang="pt-BR" sz="2800" b="1" dirty="0">
                <a:latin typeface="+mn-lt"/>
              </a:rPr>
              <a:t>Modo 3: Retardo na </a:t>
            </a:r>
            <a:r>
              <a:rPr lang="pt-BR" sz="2800" b="1" dirty="0" err="1">
                <a:latin typeface="+mn-lt"/>
              </a:rPr>
              <a:t>desenergização</a:t>
            </a:r>
            <a:endParaRPr lang="pt-BR" sz="2800" b="1" dirty="0">
              <a:latin typeface="+mn-lt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188" y="962928"/>
            <a:ext cx="6053500" cy="388288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dirty="0"/>
              <a:t>A saída do temporizador </a:t>
            </a:r>
            <a:r>
              <a:rPr lang="pt-BR" dirty="0">
                <a:highlight>
                  <a:srgbClr val="00FFFF"/>
                </a:highlight>
              </a:rPr>
              <a:t>muda imediatamente no momento que ele é habilitado. </a:t>
            </a:r>
            <a:r>
              <a:rPr lang="pt-BR" dirty="0"/>
              <a:t>O inicio da contagem do tempo da </a:t>
            </a:r>
            <a:r>
              <a:rPr lang="pt-BR" dirty="0" err="1"/>
              <a:t>desenergização</a:t>
            </a:r>
            <a:r>
              <a:rPr lang="pt-BR" dirty="0"/>
              <a:t> do temporizador acontece na </a:t>
            </a:r>
            <a:r>
              <a:rPr lang="pt-BR" dirty="0">
                <a:highlight>
                  <a:srgbClr val="008000"/>
                </a:highlight>
              </a:rPr>
              <a:t>borda de descida </a:t>
            </a:r>
            <a:r>
              <a:rPr lang="pt-BR" dirty="0"/>
              <a:t>do sinal de habilitação do mesmo</a:t>
            </a:r>
            <a:r>
              <a:rPr lang="pt-BR" sz="2800" dirty="0"/>
              <a:t>.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503CB9A-1C95-46C9-A03E-0D5BDE707634}"/>
              </a:ext>
            </a:extLst>
          </p:cNvPr>
          <p:cNvGrpSpPr/>
          <p:nvPr/>
        </p:nvGrpSpPr>
        <p:grpSpPr>
          <a:xfrm>
            <a:off x="6874944" y="628169"/>
            <a:ext cx="5163899" cy="5943598"/>
            <a:chOff x="7199482" y="914162"/>
            <a:chExt cx="4805164" cy="5636534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6427AF73-4609-4BC6-B4F3-F8C326B3E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99482" y="914162"/>
              <a:ext cx="4805164" cy="5636534"/>
            </a:xfrm>
            <a:prstGeom prst="rect">
              <a:avLst/>
            </a:prstGeom>
          </p:spPr>
        </p:pic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4154616D-B41F-4948-96F4-9167716E0501}"/>
                </a:ext>
              </a:extLst>
            </p:cNvPr>
            <p:cNvSpPr/>
            <p:nvPr/>
          </p:nvSpPr>
          <p:spPr>
            <a:xfrm>
              <a:off x="9071793" y="2904371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1FAC1EE-57FA-4AEF-98C3-A3403BEA5FDA}"/>
              </a:ext>
            </a:extLst>
          </p:cNvPr>
          <p:cNvGrpSpPr/>
          <p:nvPr/>
        </p:nvGrpSpPr>
        <p:grpSpPr>
          <a:xfrm>
            <a:off x="343177" y="4275067"/>
            <a:ext cx="5927521" cy="2208659"/>
            <a:chOff x="343177" y="4275067"/>
            <a:chExt cx="5927521" cy="220865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956858A1-F69B-42C4-953B-815B74A0A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177" y="4950997"/>
              <a:ext cx="5927521" cy="1532729"/>
            </a:xfrm>
            <a:prstGeom prst="rect">
              <a:avLst/>
            </a:prstGeom>
          </p:spPr>
        </p:pic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A29DD1D6-7AFE-49F1-ACB6-53554536FF43}"/>
                </a:ext>
              </a:extLst>
            </p:cNvPr>
            <p:cNvSpPr/>
            <p:nvPr/>
          </p:nvSpPr>
          <p:spPr>
            <a:xfrm>
              <a:off x="3513996" y="4909051"/>
              <a:ext cx="318412" cy="1100391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27242370-A268-4C9B-8225-396E94A3E620}"/>
                </a:ext>
              </a:extLst>
            </p:cNvPr>
            <p:cNvSpPr/>
            <p:nvPr/>
          </p:nvSpPr>
          <p:spPr>
            <a:xfrm>
              <a:off x="3637696" y="5511471"/>
              <a:ext cx="1060541" cy="46096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Seta: para a Direita 9">
              <a:extLst>
                <a:ext uri="{FF2B5EF4-FFF2-40B4-BE49-F238E27FC236}">
                  <a16:creationId xmlns:a16="http://schemas.microsoft.com/office/drawing/2014/main" id="{A2E9F03D-9A28-4D06-B00C-BAF6AC5A3076}"/>
                </a:ext>
              </a:extLst>
            </p:cNvPr>
            <p:cNvSpPr/>
            <p:nvPr/>
          </p:nvSpPr>
          <p:spPr>
            <a:xfrm rot="5400000">
              <a:off x="3354744" y="4440353"/>
              <a:ext cx="665154" cy="334582"/>
            </a:xfrm>
            <a:prstGeom prst="rightArrow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Seta: para a Direita 11">
              <a:extLst>
                <a:ext uri="{FF2B5EF4-FFF2-40B4-BE49-F238E27FC236}">
                  <a16:creationId xmlns:a16="http://schemas.microsoft.com/office/drawing/2014/main" id="{4473DBBB-5AF1-4643-A102-8E60D2EB97B1}"/>
                </a:ext>
              </a:extLst>
            </p:cNvPr>
            <p:cNvSpPr/>
            <p:nvPr/>
          </p:nvSpPr>
          <p:spPr>
            <a:xfrm rot="5400000">
              <a:off x="2601379" y="4463362"/>
              <a:ext cx="665154" cy="334582"/>
            </a:xfrm>
            <a:prstGeom prst="rightArrow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8790BDDF-1E81-49B6-8934-C467AFA65763}"/>
                </a:ext>
              </a:extLst>
            </p:cNvPr>
            <p:cNvSpPr/>
            <p:nvPr/>
          </p:nvSpPr>
          <p:spPr>
            <a:xfrm>
              <a:off x="2777874" y="4923435"/>
              <a:ext cx="318412" cy="1100391"/>
            </a:xfrm>
            <a:prstGeom prst="ellipse">
              <a:avLst/>
            </a:prstGeom>
            <a:noFill/>
            <a:ln w="19050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664443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208" y="165464"/>
            <a:ext cx="9144000" cy="583474"/>
          </a:xfrm>
        </p:spPr>
        <p:txBody>
          <a:bodyPr>
            <a:noAutofit/>
          </a:bodyPr>
          <a:lstStyle/>
          <a:p>
            <a:pPr algn="l"/>
            <a:r>
              <a:rPr lang="pt-BR" sz="2800" b="1" dirty="0">
                <a:latin typeface="+mn-lt"/>
              </a:rPr>
              <a:t>Modo 4: Retardo na </a:t>
            </a:r>
            <a:r>
              <a:rPr lang="pt-BR" sz="2800" b="1" dirty="0" err="1">
                <a:latin typeface="+mn-lt"/>
              </a:rPr>
              <a:t>desenergização</a:t>
            </a:r>
            <a:endParaRPr lang="pt-BR" sz="2800" b="1" dirty="0">
              <a:latin typeface="+mn-lt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11" y="1178869"/>
            <a:ext cx="6196112" cy="187642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pt-BR" sz="2800" dirty="0"/>
              <a:t>O inicio da contagem do tempo da </a:t>
            </a:r>
            <a:r>
              <a:rPr lang="pt-BR" sz="2800" dirty="0" err="1"/>
              <a:t>desenergização</a:t>
            </a:r>
            <a:r>
              <a:rPr lang="pt-BR" sz="2800" dirty="0"/>
              <a:t> do temporizador acontece na </a:t>
            </a:r>
            <a:r>
              <a:rPr lang="pt-BR" sz="2800" dirty="0">
                <a:highlight>
                  <a:srgbClr val="008000"/>
                </a:highlight>
              </a:rPr>
              <a:t>borda de descida </a:t>
            </a:r>
            <a:r>
              <a:rPr lang="pt-BR" sz="2800" dirty="0"/>
              <a:t>do sinal de habilitação do mesmo. A </a:t>
            </a:r>
            <a:r>
              <a:rPr lang="pt-BR" sz="2800" dirty="0">
                <a:highlight>
                  <a:srgbClr val="008000"/>
                </a:highlight>
              </a:rPr>
              <a:t>mudança de estado da saída</a:t>
            </a:r>
            <a:r>
              <a:rPr lang="pt-BR" sz="2800" dirty="0"/>
              <a:t> ocorre neste mesmo momento. 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F3815A68-3A7C-44FF-8964-0EEFB0B9BF04}"/>
              </a:ext>
            </a:extLst>
          </p:cNvPr>
          <p:cNvGrpSpPr/>
          <p:nvPr/>
        </p:nvGrpSpPr>
        <p:grpSpPr>
          <a:xfrm>
            <a:off x="82376" y="3282744"/>
            <a:ext cx="6508205" cy="2859264"/>
            <a:chOff x="280783" y="3196760"/>
            <a:chExt cx="5866677" cy="2434743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88E8B429-C081-450D-8D38-3DFE24076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783" y="3860290"/>
              <a:ext cx="5866677" cy="1771213"/>
            </a:xfrm>
            <a:prstGeom prst="rect">
              <a:avLst/>
            </a:prstGeom>
          </p:spPr>
        </p:pic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7B4187CB-DF51-43C7-99F2-676145F7E251}"/>
                </a:ext>
              </a:extLst>
            </p:cNvPr>
            <p:cNvSpPr/>
            <p:nvPr/>
          </p:nvSpPr>
          <p:spPr>
            <a:xfrm>
              <a:off x="4111288" y="3802704"/>
              <a:ext cx="253677" cy="1358853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Seta: para a Direita 7">
              <a:extLst>
                <a:ext uri="{FF2B5EF4-FFF2-40B4-BE49-F238E27FC236}">
                  <a16:creationId xmlns:a16="http://schemas.microsoft.com/office/drawing/2014/main" id="{6E391100-050D-4135-965A-3133A4D0D59F}"/>
                </a:ext>
              </a:extLst>
            </p:cNvPr>
            <p:cNvSpPr/>
            <p:nvPr/>
          </p:nvSpPr>
          <p:spPr>
            <a:xfrm rot="5400000">
              <a:off x="3926157" y="3362046"/>
              <a:ext cx="665154" cy="334582"/>
            </a:xfrm>
            <a:prstGeom prst="rightArrow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4EF497C5-F1E2-486C-A5A6-A9047F7397D3}"/>
                </a:ext>
              </a:extLst>
            </p:cNvPr>
            <p:cNvSpPr/>
            <p:nvPr/>
          </p:nvSpPr>
          <p:spPr>
            <a:xfrm>
              <a:off x="4079720" y="4582042"/>
              <a:ext cx="1536078" cy="57951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BE6392A-871F-49CB-BBD2-ED40458D157F}"/>
              </a:ext>
            </a:extLst>
          </p:cNvPr>
          <p:cNvGrpSpPr/>
          <p:nvPr/>
        </p:nvGrpSpPr>
        <p:grpSpPr>
          <a:xfrm>
            <a:off x="6834557" y="385893"/>
            <a:ext cx="5340191" cy="6228826"/>
            <a:chOff x="6851809" y="385893"/>
            <a:chExt cx="5340191" cy="6228826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EC475A23-8005-4D9D-9A61-6A6F30706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1809" y="385893"/>
              <a:ext cx="5340191" cy="6228826"/>
            </a:xfrm>
            <a:prstGeom prst="rect">
              <a:avLst/>
            </a:prstGeom>
          </p:spPr>
        </p:pic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E8CBD843-8AB2-4669-B754-69FF5696D936}"/>
                </a:ext>
              </a:extLst>
            </p:cNvPr>
            <p:cNvSpPr/>
            <p:nvPr/>
          </p:nvSpPr>
          <p:spPr>
            <a:xfrm>
              <a:off x="8991633" y="2653276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8A0D2367-4901-4B4A-9CE2-0F75D414C26D}"/>
                </a:ext>
              </a:extLst>
            </p:cNvPr>
            <p:cNvSpPr/>
            <p:nvPr/>
          </p:nvSpPr>
          <p:spPr>
            <a:xfrm>
              <a:off x="9351034" y="4908433"/>
              <a:ext cx="1380227" cy="35253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AB23AB6B-DED0-4246-A074-9F8604CE40F3}"/>
                </a:ext>
              </a:extLst>
            </p:cNvPr>
            <p:cNvSpPr/>
            <p:nvPr/>
          </p:nvSpPr>
          <p:spPr>
            <a:xfrm>
              <a:off x="8876582" y="4500116"/>
              <a:ext cx="1636150" cy="35253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528834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208" y="165464"/>
            <a:ext cx="9144000" cy="583474"/>
          </a:xfrm>
        </p:spPr>
        <p:txBody>
          <a:bodyPr>
            <a:noAutofit/>
          </a:bodyPr>
          <a:lstStyle/>
          <a:p>
            <a:pPr algn="l"/>
            <a:r>
              <a:rPr lang="pt-BR" sz="2800" b="1" dirty="0">
                <a:latin typeface="+mn-lt"/>
              </a:rPr>
              <a:t>Modo 5: Oscilador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189" y="1487557"/>
            <a:ext cx="5222989" cy="388288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dirty="0"/>
              <a:t>Oscilador com tempos ligado e desligado iguais. Ele funciona apenas enquanto estiver “energizado”.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6DD90D-E690-45AC-BD02-0CF867324D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4"/>
          <a:stretch/>
        </p:blipFill>
        <p:spPr>
          <a:xfrm>
            <a:off x="6393596" y="217220"/>
            <a:ext cx="5561345" cy="6395636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AE074FDF-7256-4B78-A7D5-3DF32313C42A}"/>
              </a:ext>
            </a:extLst>
          </p:cNvPr>
          <p:cNvSpPr/>
          <p:nvPr/>
        </p:nvSpPr>
        <p:spPr>
          <a:xfrm>
            <a:off x="7118874" y="2544219"/>
            <a:ext cx="1060541" cy="524629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497A9FF4-C72F-4E6A-8FED-AAB8DDE9AE51}"/>
              </a:ext>
            </a:extLst>
          </p:cNvPr>
          <p:cNvGrpSpPr/>
          <p:nvPr/>
        </p:nvGrpSpPr>
        <p:grpSpPr>
          <a:xfrm>
            <a:off x="312583" y="3991280"/>
            <a:ext cx="5766165" cy="1468751"/>
            <a:chOff x="280189" y="3784247"/>
            <a:chExt cx="5766165" cy="1468751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AE2DFE70-5CFB-4EA5-8322-9BBE2F2C0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0189" y="3918471"/>
              <a:ext cx="5766165" cy="1334527"/>
            </a:xfrm>
            <a:prstGeom prst="rect">
              <a:avLst/>
            </a:prstGeom>
          </p:spPr>
        </p:pic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55613C40-4265-4719-9FB5-9F6B1145602A}"/>
                </a:ext>
              </a:extLst>
            </p:cNvPr>
            <p:cNvSpPr/>
            <p:nvPr/>
          </p:nvSpPr>
          <p:spPr>
            <a:xfrm>
              <a:off x="2891683" y="3784247"/>
              <a:ext cx="2846387" cy="66191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456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208" y="165464"/>
            <a:ext cx="9144000" cy="583474"/>
          </a:xfrm>
        </p:spPr>
        <p:txBody>
          <a:bodyPr>
            <a:noAutofit/>
          </a:bodyPr>
          <a:lstStyle/>
          <a:p>
            <a:pPr algn="l"/>
            <a:r>
              <a:rPr lang="pt-BR" sz="2800" b="1" dirty="0">
                <a:latin typeface="+mn-lt"/>
              </a:rPr>
              <a:t>Modo 6: Oscilador com Reset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189" y="1253240"/>
            <a:ext cx="5427176" cy="388288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dirty="0"/>
              <a:t>Oscilador com tempos ligado e desligado iguais. Ele inicia o funcionamento quando recebe um comando tipo “</a:t>
            </a:r>
            <a:r>
              <a:rPr lang="pt-BR" dirty="0">
                <a:solidFill>
                  <a:srgbClr val="FF0000"/>
                </a:solidFill>
              </a:rPr>
              <a:t>set</a:t>
            </a:r>
            <a:r>
              <a:rPr lang="pt-BR" dirty="0"/>
              <a:t>” e desliga com “</a:t>
            </a:r>
            <a:r>
              <a:rPr lang="pt-BR" dirty="0">
                <a:solidFill>
                  <a:srgbClr val="FF0000"/>
                </a:solidFill>
              </a:rPr>
              <a:t>reset</a:t>
            </a:r>
            <a:r>
              <a:rPr lang="pt-BR" dirty="0"/>
              <a:t>”.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1A3BC5DA-14B7-4AF2-B62F-B45F9F74C6AD}"/>
              </a:ext>
            </a:extLst>
          </p:cNvPr>
          <p:cNvGrpSpPr/>
          <p:nvPr/>
        </p:nvGrpSpPr>
        <p:grpSpPr>
          <a:xfrm>
            <a:off x="6400596" y="335560"/>
            <a:ext cx="5427176" cy="6186880"/>
            <a:chOff x="6262573" y="335560"/>
            <a:chExt cx="5427176" cy="6186880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FC236A01-E7C3-4E09-AC77-775AA6C578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73"/>
            <a:stretch/>
          </p:blipFill>
          <p:spPr>
            <a:xfrm>
              <a:off x="6262573" y="335560"/>
              <a:ext cx="5427176" cy="6186880"/>
            </a:xfrm>
            <a:prstGeom prst="rect">
              <a:avLst/>
            </a:prstGeom>
          </p:spPr>
        </p:pic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84A4847C-2C32-46BD-A6E9-F9554486A412}"/>
                </a:ext>
              </a:extLst>
            </p:cNvPr>
            <p:cNvSpPr/>
            <p:nvPr/>
          </p:nvSpPr>
          <p:spPr>
            <a:xfrm>
              <a:off x="8771505" y="2670054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0713640F-69E9-4629-8FE9-179538786471}"/>
                </a:ext>
              </a:extLst>
            </p:cNvPr>
            <p:cNvSpPr/>
            <p:nvPr/>
          </p:nvSpPr>
          <p:spPr>
            <a:xfrm>
              <a:off x="10300252" y="5370443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8953DDB-20E4-4139-B1B7-C57AAF393AEB}"/>
              </a:ext>
            </a:extLst>
          </p:cNvPr>
          <p:cNvGrpSpPr/>
          <p:nvPr/>
        </p:nvGrpSpPr>
        <p:grpSpPr>
          <a:xfrm>
            <a:off x="280189" y="4192851"/>
            <a:ext cx="5427176" cy="1886549"/>
            <a:chOff x="280189" y="4295656"/>
            <a:chExt cx="5427176" cy="1886549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1B62F8EA-B29C-4F21-9AC1-5FF029678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0189" y="4413891"/>
              <a:ext cx="5427176" cy="1768314"/>
            </a:xfrm>
            <a:prstGeom prst="rect">
              <a:avLst/>
            </a:prstGeom>
          </p:spPr>
        </p:pic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B5900672-3015-4751-B43E-F3BF98AA50A5}"/>
                </a:ext>
              </a:extLst>
            </p:cNvPr>
            <p:cNvSpPr/>
            <p:nvPr/>
          </p:nvSpPr>
          <p:spPr>
            <a:xfrm>
              <a:off x="2587149" y="4295656"/>
              <a:ext cx="655038" cy="59297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DBF7EC8A-E5BE-4861-A1D5-A39B58D3E50D}"/>
                </a:ext>
              </a:extLst>
            </p:cNvPr>
            <p:cNvSpPr/>
            <p:nvPr/>
          </p:nvSpPr>
          <p:spPr>
            <a:xfrm>
              <a:off x="4608895" y="5370443"/>
              <a:ext cx="655038" cy="59297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466306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208" y="165464"/>
            <a:ext cx="9144000" cy="583474"/>
          </a:xfrm>
        </p:spPr>
        <p:txBody>
          <a:bodyPr>
            <a:noAutofit/>
          </a:bodyPr>
          <a:lstStyle/>
          <a:p>
            <a:pPr algn="l"/>
            <a:r>
              <a:rPr lang="pt-BR" sz="2800" b="1" dirty="0">
                <a:latin typeface="+mn-lt"/>
              </a:rPr>
              <a:t>Modo 7: </a:t>
            </a:r>
            <a:r>
              <a:rPr lang="pt-BR" sz="2800" b="1">
                <a:latin typeface="+mn-lt"/>
              </a:rPr>
              <a:t>Oscilador Ajustável</a:t>
            </a:r>
            <a:endParaRPr lang="pt-BR" sz="2800" b="1" dirty="0">
              <a:latin typeface="+mn-lt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189" y="1487557"/>
            <a:ext cx="5717939" cy="388288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dirty="0"/>
              <a:t>Oscilador com possibilidade de programação de tempos ligado e desligado diferentes. Ele funciona apenas enquanto estiver “energizado”.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84F35C1-87E6-4BD2-899D-F4DCF15DF44B}"/>
              </a:ext>
            </a:extLst>
          </p:cNvPr>
          <p:cNvGrpSpPr/>
          <p:nvPr/>
        </p:nvGrpSpPr>
        <p:grpSpPr>
          <a:xfrm>
            <a:off x="6552889" y="322678"/>
            <a:ext cx="5639111" cy="6019162"/>
            <a:chOff x="6394218" y="331304"/>
            <a:chExt cx="5639111" cy="6019162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B8DBA6B8-6A87-4B61-9E36-13475803B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54" b="1"/>
            <a:stretch/>
          </p:blipFill>
          <p:spPr>
            <a:xfrm>
              <a:off x="6394218" y="679508"/>
              <a:ext cx="5555159" cy="5670958"/>
            </a:xfrm>
            <a:prstGeom prst="rect">
              <a:avLst/>
            </a:prstGeom>
          </p:spPr>
        </p:pic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4930CA3F-D310-4EDA-9DC0-A30A2FA4E9C4}"/>
                </a:ext>
              </a:extLst>
            </p:cNvPr>
            <p:cNvSpPr/>
            <p:nvPr/>
          </p:nvSpPr>
          <p:spPr>
            <a:xfrm>
              <a:off x="9911545" y="331304"/>
              <a:ext cx="2121784" cy="131293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5F33972B-5BA1-4426-9EA2-83D677E6F7C5}"/>
                </a:ext>
              </a:extLst>
            </p:cNvPr>
            <p:cNvSpPr/>
            <p:nvPr/>
          </p:nvSpPr>
          <p:spPr>
            <a:xfrm>
              <a:off x="7015382" y="2803180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918E4EFE-97CA-4423-9863-C608AF740CDC}"/>
                </a:ext>
              </a:extLst>
            </p:cNvPr>
            <p:cNvSpPr/>
            <p:nvPr/>
          </p:nvSpPr>
          <p:spPr>
            <a:xfrm>
              <a:off x="8556848" y="2377324"/>
              <a:ext cx="1060541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1821EFA-C55F-4C55-A397-9D02B0F76964}"/>
              </a:ext>
            </a:extLst>
          </p:cNvPr>
          <p:cNvGrpSpPr/>
          <p:nvPr/>
        </p:nvGrpSpPr>
        <p:grpSpPr>
          <a:xfrm>
            <a:off x="41086" y="4426432"/>
            <a:ext cx="6196144" cy="1682630"/>
            <a:chOff x="0" y="4429387"/>
            <a:chExt cx="6196144" cy="1682630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EEA1EA9D-ED82-4CDA-A1E9-A41970150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627190"/>
              <a:ext cx="6196144" cy="1484827"/>
            </a:xfrm>
            <a:prstGeom prst="rect">
              <a:avLst/>
            </a:prstGeom>
          </p:spPr>
        </p:pic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07B71A03-7E14-45A7-A875-F08CB6552499}"/>
                </a:ext>
              </a:extLst>
            </p:cNvPr>
            <p:cNvSpPr/>
            <p:nvPr/>
          </p:nvSpPr>
          <p:spPr>
            <a:xfrm>
              <a:off x="2772672" y="4429387"/>
              <a:ext cx="2462058" cy="524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EC1447AF-2E91-4F0E-A713-15BB22719D5F}"/>
                </a:ext>
              </a:extLst>
            </p:cNvPr>
            <p:cNvSpPr/>
            <p:nvPr/>
          </p:nvSpPr>
          <p:spPr>
            <a:xfrm>
              <a:off x="3018729" y="4897535"/>
              <a:ext cx="319498" cy="28516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14277E86-E9CC-4023-AC50-963DF1D80C06}"/>
                </a:ext>
              </a:extLst>
            </p:cNvPr>
            <p:cNvSpPr/>
            <p:nvPr/>
          </p:nvSpPr>
          <p:spPr>
            <a:xfrm>
              <a:off x="3229852" y="4890544"/>
              <a:ext cx="319498" cy="28516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480993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Esquemático&#10;&#10;Descrição gerada automaticamente">
            <a:extLst>
              <a:ext uri="{FF2B5EF4-FFF2-40B4-BE49-F238E27FC236}">
                <a16:creationId xmlns:a16="http://schemas.microsoft.com/office/drawing/2014/main" id="{E24250E9-1E38-419A-B4E1-3D7937A2A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67" y="638176"/>
            <a:ext cx="5180639" cy="53964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16" y="1602961"/>
            <a:ext cx="6838122" cy="4611757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Um acionamento e motor estrela triangulo é, na prática, um processo automático. Usando um CLP, ele deve realizar a seguinte sequencia de operações: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/>
              <a:t>Acionar as </a:t>
            </a:r>
            <a:r>
              <a:rPr lang="pt-BR" dirty="0" err="1"/>
              <a:t>contatoras</a:t>
            </a:r>
            <a:r>
              <a:rPr lang="pt-BR" dirty="0"/>
              <a:t> K1 e K2;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/>
              <a:t>Passando 20 segundos, deve se acionar apenas as </a:t>
            </a:r>
            <a:r>
              <a:rPr lang="pt-BR" dirty="0" err="1"/>
              <a:t>contatoras</a:t>
            </a:r>
            <a:r>
              <a:rPr lang="pt-BR" dirty="0"/>
              <a:t> K1 e K3, desligando a K2.</a:t>
            </a:r>
          </a:p>
          <a:p>
            <a:pPr algn="just"/>
            <a:r>
              <a:rPr lang="pt-BR" dirty="0"/>
              <a:t>Escrever o programa </a:t>
            </a:r>
            <a:r>
              <a:rPr lang="pt-BR" dirty="0" err="1"/>
              <a:t>ladder</a:t>
            </a:r>
            <a:r>
              <a:rPr lang="pt-BR" dirty="0"/>
              <a:t> para realizar esta sequencia de acionamentos considerando se: 1 botoeira para ligar e outra para desligar o motor.</a:t>
            </a:r>
          </a:p>
        </p:txBody>
      </p:sp>
    </p:spTree>
    <p:extLst>
      <p:ext uri="{BB962C8B-B14F-4D97-AF65-F5344CB8AC3E}">
        <p14:creationId xmlns:p14="http://schemas.microsoft.com/office/powerpoint/2010/main" val="2557910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Esquemático&#10;&#10;Descrição gerada automaticamente">
            <a:extLst>
              <a:ext uri="{FF2B5EF4-FFF2-40B4-BE49-F238E27FC236}">
                <a16:creationId xmlns:a16="http://schemas.microsoft.com/office/drawing/2014/main" id="{E24250E9-1E38-419A-B4E1-3D7937A2A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280" y="3575235"/>
            <a:ext cx="3151455" cy="328276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311" y="1123121"/>
            <a:ext cx="6027278" cy="4611757"/>
          </a:xfrm>
        </p:spPr>
        <p:txBody>
          <a:bodyPr>
            <a:normAutofit/>
          </a:bodyPr>
          <a:lstStyle/>
          <a:p>
            <a:pPr algn="just"/>
            <a:r>
              <a:rPr lang="pt-BR" sz="1800" dirty="0"/>
              <a:t>Um acionamento e motor estrela triangulo é, na prática, um processo automático. Usando um CLP, ele deve realizar a seguinte sequencia de operações: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800" dirty="0"/>
              <a:t>Acionar as </a:t>
            </a:r>
            <a:r>
              <a:rPr lang="pt-BR" sz="1800" dirty="0" err="1"/>
              <a:t>contatoras</a:t>
            </a:r>
            <a:r>
              <a:rPr lang="pt-BR" sz="1800" dirty="0"/>
              <a:t> 1 e 2;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800" dirty="0"/>
              <a:t>Passando 20 segundos, deve se acionar apenas as </a:t>
            </a:r>
            <a:r>
              <a:rPr lang="pt-BR" sz="1800" dirty="0" err="1"/>
              <a:t>contatoras</a:t>
            </a:r>
            <a:r>
              <a:rPr lang="pt-BR" sz="1800" dirty="0"/>
              <a:t> 1 e 3, desligando a 2.</a:t>
            </a:r>
          </a:p>
          <a:p>
            <a:pPr algn="just"/>
            <a:r>
              <a:rPr lang="pt-BR" sz="1800" dirty="0"/>
              <a:t>Escrever o programa </a:t>
            </a:r>
            <a:r>
              <a:rPr lang="pt-BR" sz="1800" dirty="0" err="1"/>
              <a:t>ladder</a:t>
            </a:r>
            <a:r>
              <a:rPr lang="pt-BR" sz="1800" dirty="0"/>
              <a:t> para realizar esta sequencia de acionamentos considerando se: 1 botoeira para ligar e outra para desligar o motor</a:t>
            </a:r>
            <a:r>
              <a:rPr lang="pt-BR" dirty="0"/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DAA5817-4E8E-41F5-910B-CC2A730D3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589" y="1311966"/>
            <a:ext cx="5742486" cy="383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31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895" y="1709530"/>
            <a:ext cx="10588487" cy="4611757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Um sistema de transporte de materiais é constituído por um conjunto de três esteiras em sequencia. </a:t>
            </a:r>
          </a:p>
          <a:p>
            <a:pPr algn="just"/>
            <a:r>
              <a:rPr lang="pt-BR" sz="2800" dirty="0"/>
              <a:t>Os motores são de grande porte e não devem ser ligados simultaneamente para não sobrecarregar a instalação elétrica sob o risco de desarmar o sistema de proteção a disjuntores por picos de corrente excessivamente elevados.</a:t>
            </a:r>
          </a:p>
          <a:p>
            <a:pPr algn="just"/>
            <a:r>
              <a:rPr lang="pt-BR" sz="2800" dirty="0"/>
              <a:t>O acionamento da esteira será então comandado por um CLP que deverá ligar cada uma das esteiras com um intervalo de 1 minuto.</a:t>
            </a:r>
          </a:p>
          <a:p>
            <a:pPr algn="just"/>
            <a:r>
              <a:rPr lang="pt-BR" sz="2800" dirty="0"/>
              <a:t>O CLP tem uma botoeira para ligar e outra para desligar o sistema.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065895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103" y="1449238"/>
            <a:ext cx="10855280" cy="4872049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Um sistema de transporte de materiais é constituído por um conjunto de três esteiras em sequencia. </a:t>
            </a:r>
          </a:p>
          <a:p>
            <a:pPr algn="just"/>
            <a:r>
              <a:rPr lang="pt-BR" sz="2800" dirty="0"/>
              <a:t>Os motores são de grande porte e não devem ser ligados simultaneamente para não sobrecarregar a instalação elétrica sob o risco de desarmar o sistema de proteção a disjuntores por picos de corrente excessivamente elevados.</a:t>
            </a:r>
          </a:p>
          <a:p>
            <a:pPr algn="just"/>
            <a:r>
              <a:rPr lang="pt-BR" sz="2800" dirty="0"/>
              <a:t>O acionamento da esteira será então comandado por um CLP que deverá ligar cada uma das esteiras com um intervalo de 1 minuto. O CLP tem uma botoeira para ligar e outra para desligar o sistema.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Uma solução e acionar uma esteira normalmente e as demais com um retardo de 1 e 2 minutos, respectivamente.</a:t>
            </a:r>
          </a:p>
        </p:txBody>
      </p:sp>
    </p:spTree>
    <p:extLst>
      <p:ext uri="{BB962C8B-B14F-4D97-AF65-F5344CB8AC3E}">
        <p14:creationId xmlns:p14="http://schemas.microsoft.com/office/powerpoint/2010/main" val="1695540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8465"/>
            <a:ext cx="6056243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313" y="1616764"/>
            <a:ext cx="3260036" cy="4611757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Uma solução e acionar uma esteira normalmente e as demais com um retardo de 1 e 2 minutos, respectivamente.</a:t>
            </a:r>
          </a:p>
          <a:p>
            <a:pPr algn="just"/>
            <a:endParaRPr lang="pt-BR" dirty="0">
              <a:solidFill>
                <a:srgbClr val="FF0000"/>
              </a:solidFill>
            </a:endParaRPr>
          </a:p>
          <a:p>
            <a:pPr algn="just"/>
            <a:r>
              <a:rPr lang="pt-BR" dirty="0">
                <a:solidFill>
                  <a:srgbClr val="FF0000"/>
                </a:solidFill>
              </a:rPr>
              <a:t>Solução 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397EA90-7454-C66E-186E-A31698297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974" y="1200286"/>
            <a:ext cx="8022146" cy="502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639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965F503-85CD-4CF5-8044-44D11345F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625" y="1070493"/>
            <a:ext cx="8794751" cy="52507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8465"/>
            <a:ext cx="6056243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313" y="1616764"/>
            <a:ext cx="3260036" cy="4611757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Uma solução e acionar uma esteira normalmente e as demais com um retardo de 1 e 2 minutos, respectivamente.</a:t>
            </a:r>
          </a:p>
          <a:p>
            <a:pPr algn="just"/>
            <a:endParaRPr lang="pt-BR" dirty="0">
              <a:solidFill>
                <a:srgbClr val="FF0000"/>
              </a:solidFill>
            </a:endParaRPr>
          </a:p>
          <a:p>
            <a:pPr algn="just"/>
            <a:r>
              <a:rPr lang="pt-BR" dirty="0">
                <a:solidFill>
                  <a:srgbClr val="FF0000"/>
                </a:solidFill>
              </a:rPr>
              <a:t>Solução 2: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 temporizadores em cascata</a:t>
            </a:r>
          </a:p>
          <a:p>
            <a:pPr algn="just"/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449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895" y="1709530"/>
            <a:ext cx="10588487" cy="4611757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Um sistema de iluminação deve ser acionado por 5 minutos após receber um sinal de um sensor instalado na entrada.</a:t>
            </a:r>
          </a:p>
          <a:p>
            <a:pPr algn="just"/>
            <a:r>
              <a:rPr lang="pt-BR" sz="3200" dirty="0"/>
              <a:t>A contagem de tempo é reiniciada cada vez que o sensor é acionado. </a:t>
            </a:r>
          </a:p>
          <a:p>
            <a:pPr algn="just"/>
            <a:r>
              <a:rPr lang="pt-BR" sz="3200" dirty="0"/>
              <a:t>O tempo de acionamento da iluminação não tem reset.</a:t>
            </a:r>
          </a:p>
          <a:p>
            <a:pPr algn="just"/>
            <a:r>
              <a:rPr lang="pt-BR" sz="3200" dirty="0"/>
              <a:t>Um CLP faz o controle deste processo. </a:t>
            </a:r>
          </a:p>
        </p:txBody>
      </p:sp>
    </p:spTree>
    <p:extLst>
      <p:ext uri="{BB962C8B-B14F-4D97-AF65-F5344CB8AC3E}">
        <p14:creationId xmlns:p14="http://schemas.microsoft.com/office/powerpoint/2010/main" val="778934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024" y="1311966"/>
            <a:ext cx="11530428" cy="4611757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Um sistema de iluminação deve ser acionado por 5 minutos após receber um sinal de um sensor instalado na entrada.</a:t>
            </a:r>
          </a:p>
          <a:p>
            <a:pPr algn="just"/>
            <a:r>
              <a:rPr lang="pt-BR" dirty="0"/>
              <a:t>A contagem de tempo é reiniciada cada vez que o sensor é acionado. </a:t>
            </a:r>
          </a:p>
          <a:p>
            <a:pPr algn="just"/>
            <a:r>
              <a:rPr lang="pt-BR" dirty="0"/>
              <a:t>O tempo de acionamento da iluminação não tem reset.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F616715-C32F-45E8-89EC-66638AE4D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51" y="3485325"/>
            <a:ext cx="12013174" cy="243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471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895" y="1709530"/>
            <a:ext cx="10588487" cy="4611757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pt-BR" sz="3200" dirty="0"/>
              <a:t>Um processo inicia com o acionamento de uma máquina e também de um exaustor de gases, simultaneamente;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3200" dirty="0"/>
              <a:t>Depois que o motor é desligado, manualmente, o exaustor deve continuar funcionando por mais 5 minutos com o objetivo de garantir a retirada de todos os gases que possam sem produzidos mesmo com o fim do processo. A exaustão tem uma botoeira para o </a:t>
            </a:r>
            <a:r>
              <a:rPr lang="pt-BR" sz="3200" i="1" dirty="0"/>
              <a:t>reset </a:t>
            </a:r>
            <a:r>
              <a:rPr lang="pt-BR" sz="3200" dirty="0"/>
              <a:t>do tempo (caso se deseje parar o exaustor antes do tempo programado.</a:t>
            </a:r>
          </a:p>
          <a:p>
            <a:pPr marL="514350" indent="-514350" algn="just">
              <a:buFont typeface="+mj-lt"/>
              <a:buAutoNum type="arabicPeriod"/>
            </a:pPr>
            <a:endParaRPr lang="pt-BR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971477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895" y="1709530"/>
            <a:ext cx="10588487" cy="4611757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pt-BR" sz="2800" dirty="0"/>
              <a:t>Um processo inicia com o acionamento de uma máquina e também de um exaustor de gases, simultaneamente;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Duas saídas são acionadas simultaneamente.</a:t>
            </a:r>
          </a:p>
          <a:p>
            <a:pPr marL="514350" indent="-514350" algn="just">
              <a:buFont typeface="+mj-lt"/>
              <a:buAutoNum type="arabicPeriod" startAt="2"/>
            </a:pPr>
            <a:r>
              <a:rPr lang="pt-BR" sz="2800" dirty="0"/>
              <a:t>Depois que o motor é desligado, manualmente, o exaustor deve continuar funcionando por mais 5 minutos com o objetivo de garantir a retirada de todos os gases que possam sem produzidos mesmo com o fim do processo. 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Uma saída é normal outra é temporizada. A saída com controle manual servirá de “gatilho” para a saída que deve ser desligada com um atraso.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877009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104" y="1722782"/>
            <a:ext cx="2981740" cy="4611757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Uma saída é normal outra é temporizada. A saída com controle manual servirá de “gatilho” para a saída que deve ser desligada com um atraso.</a:t>
            </a:r>
          </a:p>
          <a:p>
            <a:pPr algn="just"/>
            <a:endParaRPr lang="pt-BR" dirty="0">
              <a:solidFill>
                <a:srgbClr val="FF0000"/>
              </a:solidFill>
            </a:endParaRPr>
          </a:p>
          <a:p>
            <a:pPr algn="just"/>
            <a:r>
              <a:rPr lang="pt-BR" dirty="0">
                <a:solidFill>
                  <a:srgbClr val="FF0000"/>
                </a:solidFill>
              </a:rPr>
              <a:t>I3 = reset timer se estiver em contagem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0C129B2-419F-4B58-8127-E221F4281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724" y="1722782"/>
            <a:ext cx="8046232" cy="329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469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895" y="1709530"/>
            <a:ext cx="10588487" cy="4611757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Um processo químico deve ser agitado por um motor que deve ficar ligado por 1 minuto e desligado por 1 minuto e esta frequência de acionamento é controlado por um CLP. Este processo fica executando este ciclo indefinidamente e é controlado manualmente pelo operador.</a:t>
            </a:r>
          </a:p>
          <a:p>
            <a:pPr algn="just"/>
            <a:r>
              <a:rPr lang="pt-BR" sz="3200" dirty="0"/>
              <a:t>Escrever o programa para realizar este controle.</a:t>
            </a:r>
          </a:p>
        </p:txBody>
      </p:sp>
    </p:spTree>
    <p:extLst>
      <p:ext uri="{BB962C8B-B14F-4D97-AF65-F5344CB8AC3E}">
        <p14:creationId xmlns:p14="http://schemas.microsoft.com/office/powerpoint/2010/main" val="660635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Exemplo 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895" y="1709530"/>
            <a:ext cx="10588487" cy="4611757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Um processo químico deve ser agitado por um motor que deve ficar ligado por 1 minuto e desligado por 1 minuto e esta frequência de acionamento é controlado por um CLP. Este processo fica executando este ciclo indefinidamente e é controlado manualmente pelo operador.</a:t>
            </a:r>
          </a:p>
          <a:p>
            <a:pPr algn="just"/>
            <a:r>
              <a:rPr lang="pt-BR" dirty="0"/>
              <a:t>Escrever o programa para realizar este controle</a:t>
            </a:r>
            <a:r>
              <a:rPr lang="pt-BR" sz="3200" dirty="0"/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1D669B-CFD5-4A94-A0AD-3F04D366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770" y="3763617"/>
            <a:ext cx="9968459" cy="237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87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Exercício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895" y="1709530"/>
            <a:ext cx="10588487" cy="4611757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Ligar acionar um motor que deve iniciar seu movimento depois de 5 segundos depois que a botoeira for acionada. Uma lâmpada sinalizadora deve acender no instante que a botoeira for acionada.</a:t>
            </a:r>
          </a:p>
          <a:p>
            <a:pPr algn="just"/>
            <a:r>
              <a:rPr lang="pt-BR" sz="2800" dirty="0"/>
              <a:t>O motor controlado por CLP tem ligado também uma botoeira para desligar o sistema.  </a:t>
            </a:r>
          </a:p>
        </p:txBody>
      </p:sp>
    </p:spTree>
    <p:extLst>
      <p:ext uri="{BB962C8B-B14F-4D97-AF65-F5344CB8AC3E}">
        <p14:creationId xmlns:p14="http://schemas.microsoft.com/office/powerpoint/2010/main" val="1954030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Exercício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895" y="1709530"/>
            <a:ext cx="10588487" cy="4611757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Um sistema de iluminação deve ser acionado por 5 minutos após receber um sinal de um sensor instalado na entrada.</a:t>
            </a:r>
          </a:p>
          <a:p>
            <a:pPr algn="just"/>
            <a:r>
              <a:rPr lang="pt-BR" sz="2800" dirty="0"/>
              <a:t>A contagem de tempo é acionada apenas uma vez e deve completar os 5 minutos até permitir o acionamento de outro ciclo.</a:t>
            </a:r>
          </a:p>
          <a:p>
            <a:pPr algn="just"/>
            <a:r>
              <a:rPr lang="pt-BR" sz="2800" dirty="0"/>
              <a:t>O tempo de acionamento da iluminação não tem reset.</a:t>
            </a:r>
          </a:p>
          <a:p>
            <a:pPr algn="just"/>
            <a:r>
              <a:rPr lang="pt-BR" sz="2800" dirty="0"/>
              <a:t>Um CLP faz o controle deste processo. </a:t>
            </a:r>
          </a:p>
        </p:txBody>
      </p:sp>
    </p:spTree>
    <p:extLst>
      <p:ext uri="{BB962C8B-B14F-4D97-AF65-F5344CB8AC3E}">
        <p14:creationId xmlns:p14="http://schemas.microsoft.com/office/powerpoint/2010/main" val="2646790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Exercício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895" y="1709530"/>
            <a:ext cx="10588487" cy="4611757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Um processo químico deve ser agitado por um motor que deve ficar ligado por 1 minuto e desligado por 1 minuto e esta frequência de acionamento é controlado por um CLP. Este processo deve ser executado durante 20 minutos. O sistema tem uma botoeira para ligar e outra para parar o processo.</a:t>
            </a:r>
          </a:p>
          <a:p>
            <a:pPr algn="just"/>
            <a:r>
              <a:rPr lang="pt-BR" sz="3200" dirty="0"/>
              <a:t>Escrever o programa para realizar este controle</a:t>
            </a:r>
            <a:r>
              <a:rPr lang="pt-BR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4049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EA2E2-58F0-436C-9D11-EC74E27A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479" y="429938"/>
            <a:ext cx="9144000" cy="882028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+mn-lt"/>
              </a:rPr>
              <a:t>Exercício 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3D559A-B538-4535-BA3F-7C96C0FF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895" y="1709530"/>
            <a:ext cx="10588487" cy="461175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pt-BR" sz="2800" dirty="0"/>
              <a:t>Escrever o programa </a:t>
            </a:r>
            <a:r>
              <a:rPr lang="pt-BR" sz="2800" dirty="0" err="1"/>
              <a:t>ladder</a:t>
            </a:r>
            <a:r>
              <a:rPr lang="pt-BR" sz="2800" dirty="0"/>
              <a:t> para controle de um único semáforo de 3 luzes (verde, amarelo e vermelho), cada qual com seu tempo, controlado por um CLP.</a:t>
            </a:r>
          </a:p>
          <a:p>
            <a:pPr algn="just">
              <a:lnSpc>
                <a:spcPct val="100000"/>
              </a:lnSpc>
            </a:pPr>
            <a:r>
              <a:rPr lang="pt-BR" sz="2800" dirty="0"/>
              <a:t>O CLP tem uma chave seletora para indicar que o semáforo deve funcionar em ciclo ou senão ficar com todas as lâmpadas apagadas.</a:t>
            </a:r>
          </a:p>
        </p:txBody>
      </p:sp>
    </p:spTree>
    <p:extLst>
      <p:ext uri="{BB962C8B-B14F-4D97-AF65-F5344CB8AC3E}">
        <p14:creationId xmlns:p14="http://schemas.microsoft.com/office/powerpoint/2010/main" val="8153958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94FA9E4F3027B4F8B614DB42868305F" ma:contentTypeVersion="4" ma:contentTypeDescription="Crie um novo documento." ma:contentTypeScope="" ma:versionID="fbda65f8d7360c3de522960004f5fbe3">
  <xsd:schema xmlns:xsd="http://www.w3.org/2001/XMLSchema" xmlns:xs="http://www.w3.org/2001/XMLSchema" xmlns:p="http://schemas.microsoft.com/office/2006/metadata/properties" xmlns:ns2="99ee5e23-9d74-41f5-b93c-8f9f5b9a4501" targetNamespace="http://schemas.microsoft.com/office/2006/metadata/properties" ma:root="true" ma:fieldsID="371997ed44feb46a40b316e2523fe1ca" ns2:_="">
    <xsd:import namespace="99ee5e23-9d74-41f5-b93c-8f9f5b9a45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ee5e23-9d74-41f5-b93c-8f9f5b9a45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DE1021-C355-4DAC-8529-73E98116DACA}"/>
</file>

<file path=customXml/itemProps2.xml><?xml version="1.0" encoding="utf-8"?>
<ds:datastoreItem xmlns:ds="http://schemas.openxmlformats.org/officeDocument/2006/customXml" ds:itemID="{E9990DDA-5F61-453F-9BEA-F942F3D260AA}"/>
</file>

<file path=customXml/itemProps3.xml><?xml version="1.0" encoding="utf-8"?>
<ds:datastoreItem xmlns:ds="http://schemas.openxmlformats.org/officeDocument/2006/customXml" ds:itemID="{1C31686A-77FA-4024-9EB8-7C14415BF67D}"/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1408</Words>
  <Application>Microsoft Office PowerPoint</Application>
  <PresentationFormat>Widescreen</PresentationFormat>
  <Paragraphs>101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Tema do Office</vt:lpstr>
      <vt:lpstr>Temporizadores de CLP </vt:lpstr>
      <vt:lpstr>Objetivo</vt:lpstr>
      <vt:lpstr>Temporizadores: comando</vt:lpstr>
      <vt:lpstr>Temporizadores: Janela de parametrização</vt:lpstr>
      <vt:lpstr>Temporizadores: parametrização</vt:lpstr>
      <vt:lpstr>Modo 1: Retardo na energização – Modo 1</vt:lpstr>
      <vt:lpstr>Modo 2: Retardo na energização Modo 2</vt:lpstr>
      <vt:lpstr>Modo 2: Retardo na energização Modo 2 – com reset</vt:lpstr>
      <vt:lpstr>Modo 3: Retardo na desenergização</vt:lpstr>
      <vt:lpstr>Modo 4: Retardo na desenergização</vt:lpstr>
      <vt:lpstr>Modo 5: Oscilador</vt:lpstr>
      <vt:lpstr>Modo 6: Oscilador com Reset</vt:lpstr>
      <vt:lpstr>Modo 7: Oscilador Ajustável</vt:lpstr>
      <vt:lpstr>Exemplo 1</vt:lpstr>
      <vt:lpstr>Exemplo 1</vt:lpstr>
      <vt:lpstr>Exemplo 2</vt:lpstr>
      <vt:lpstr>Exemplo 2</vt:lpstr>
      <vt:lpstr>Exemplo 2</vt:lpstr>
      <vt:lpstr>Exemplo 2</vt:lpstr>
      <vt:lpstr>Exemplo 3</vt:lpstr>
      <vt:lpstr>Exemplo 3</vt:lpstr>
      <vt:lpstr>Exemplo 4</vt:lpstr>
      <vt:lpstr>Exemplo 4</vt:lpstr>
      <vt:lpstr>Exemplo 4</vt:lpstr>
      <vt:lpstr>Exemplo 5</vt:lpstr>
      <vt:lpstr>Exemplo 5</vt:lpstr>
      <vt:lpstr>Exercício 1</vt:lpstr>
      <vt:lpstr>Exercício 2</vt:lpstr>
      <vt:lpstr>Exercício 3</vt:lpstr>
      <vt:lpstr>Exercício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Alfred Makoto</dc:creator>
  <cp:lastModifiedBy>Alfred Makoto</cp:lastModifiedBy>
  <cp:revision>21</cp:revision>
  <dcterms:created xsi:type="dcterms:W3CDTF">2023-03-27T00:23:17Z</dcterms:created>
  <dcterms:modified xsi:type="dcterms:W3CDTF">2023-04-09T22:02:00Z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0x010100794FA9E4F3027B4F8B614DB42868305F</vt:lpwstr>
  </property>
</Properties>
</file>